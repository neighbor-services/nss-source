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05840"/>
            <a:ext cx="3474720" cy="320040"/>
          </a:xfrm>
          <a:prstGeom prst="roundRect">
            <a:avLst/>
          </a:prstGeom>
          <a:solidFill>
            <a:srgbClr val="1C2A48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2D3EE"/>
                </a:solidFill>
                <a:latin typeface="Segoe UI"/>
              </a:defRPr>
            </a:pPr>
            <a:r>
              <a:t>ENTERPRISE SCALING &amp; INFRASTRUCTURE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8FAFC"/>
                </a:solidFill>
                <a:latin typeface="Segoe UI"/>
              </a:defRPr>
            </a:pPr>
            <a:r>
              <a:t>Scaling Application Performance &amp; Storage</a:t>
            </a:r>
            <a:br/>
            <a:r>
              <a:t>with Multi-Server Contabo Infrastructure</a:t>
            </a:r>
          </a:p>
          <a:p>
            <a:pPr>
              <a:defRPr sz="1500">
                <a:solidFill>
                  <a:srgbClr val="94A3B8"/>
                </a:solidFill>
                <a:latin typeface="Segoe UI"/>
              </a:defRPr>
            </a:pPr>
            <a:r>
              <a:t>How distributing compute, databases, and high-capacity storage clusters maximizes throughput, eliminates bottlenecks, and enables fast cross-device file sharing.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931920"/>
            <a:ext cx="2423160" cy="210312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931920"/>
            <a:ext cx="242316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096512"/>
            <a:ext cx="2057400" cy="1828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"/>
              </a:spcAft>
              <a:defRPr sz="2800" b="1">
                <a:solidFill>
                  <a:srgbClr val="22D3EE"/>
                </a:solidFill>
                <a:latin typeface="Segoe UI"/>
              </a:defRPr>
            </a:pPr>
            <a:r>
              <a:t>⚡ 15x Faster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RESPONSE LATENCY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Dropped from 650ms to 42ms under 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7016" y="3931920"/>
            <a:ext cx="2423160" cy="210312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57016" y="3931920"/>
            <a:ext cx="242316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9896" y="4096512"/>
            <a:ext cx="2057400" cy="1828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"/>
              </a:spcAft>
              <a:defRPr sz="2800" b="1">
                <a:solidFill>
                  <a:srgbClr val="34D399"/>
                </a:solidFill>
                <a:latin typeface="Segoe UI"/>
              </a:defRPr>
            </a:pPr>
            <a:r>
              <a:t>💾 3.2TB+ Storage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HIGH CAPACITY VPS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Centralized media repository for apps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3931920"/>
            <a:ext cx="2423160" cy="210312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3931920"/>
            <a:ext cx="242316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4096512"/>
            <a:ext cx="2057400" cy="1828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"/>
              </a:spcAft>
              <a:defRPr sz="2800" b="1">
                <a:solidFill>
                  <a:srgbClr val="60A5FA"/>
                </a:solidFill>
                <a:latin typeface="Segoe UI"/>
              </a:defRPr>
            </a:pPr>
            <a:r>
              <a:t>🛡️ 99.95% SLA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HIGH AVAILABILITY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Zero single point of failure (SPOF)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42248" y="3931920"/>
            <a:ext cx="2423160" cy="210312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42248" y="3931920"/>
            <a:ext cx="242316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25128" y="4096512"/>
            <a:ext cx="2057400" cy="1828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"/>
              </a:spcAft>
              <a:defRPr sz="2800" b="1">
                <a:solidFill>
                  <a:srgbClr val="FBBF24"/>
                </a:solidFill>
                <a:latin typeface="Segoe UI"/>
              </a:defRPr>
            </a:pPr>
            <a:r>
              <a:t>💰 90% Cost Cut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PREDICTABLE ROI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Enterprise power at standard cloud rates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26364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Technical Presentation  •  Live Architecture Demonstration  •  Cross-Platform Performance Blueprint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1C2A48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lIns="0" rIns="0" bIns="0"/>
          <a:lstStyle/>
          <a:p>
            <a:pPr algn="ct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PROBLEM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594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The Monolith Dilemma: Why Single VPS Architecture Fails at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5912" cy="13716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High-Performance Multi-Server Architecture  |  Contabo Infrastructure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02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3383280" cy="54864"/>
          </a:xfrm>
          <a:prstGeom prst="round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828800"/>
            <a:ext cx="29443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B7185"/>
                </a:solidFill>
                <a:latin typeface="Segoe UI"/>
              </a:defRPr>
            </a:pPr>
            <a:r>
              <a:t>[BOTTLENECK 1]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Resource Contention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CPU &amp; RAM Exhaustion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Web server, database queries, background jobs, and file uploads compete for the same CPU cores.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A burst in user traffic slows down database transaction processing.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Out of Memory (OOM) killer arbitrarily terminates MySQL or API processes under load.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Compute throttling halts critical business transactions.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645920"/>
            <a:ext cx="3383280" cy="54864"/>
          </a:xfrm>
          <a:prstGeom prst="round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1828800"/>
            <a:ext cx="29443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B7185"/>
                </a:solidFill>
                <a:latin typeface="Segoe UI"/>
              </a:defRPr>
            </a:pPr>
            <a:r>
              <a:t>[BOTTLENECK 2]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Disk I/O &amp; Storage Wall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I/O Saturation &amp; Space Ceiling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Heavy media uploads block database read/write locks on shared disks.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Local disk quickly fills with multi-gigabyte media assets, causing unexpected crashes.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Disk queue depth spikes, causing extreme API response latency (3,000ms+).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Inability to scale storage independently from compute power.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645920"/>
            <a:ext cx="3383280" cy="54864"/>
          </a:xfrm>
          <a:prstGeom prst="round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1828800"/>
            <a:ext cx="29443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B7185"/>
                </a:solidFill>
                <a:latin typeface="Segoe UI"/>
              </a:defRPr>
            </a:pPr>
            <a:r>
              <a:t>[BOTTLENECK 3]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Single Point of Failure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Zero Fault Tolerance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Any crash, OS update, or hardware fault causes 100% total service downtime.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No redundancy or automatic failover for active user sessions.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Vertical scaling requires server resize downtime and hits exponential pricing walls.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High risk of cascading catastrophic data loss.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1C2A48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lIns="0" rIns="0" bIns="0"/>
          <a:lstStyle/>
          <a:p>
            <a:pPr algn="ct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CORE ARCHITECTURAL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594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Multi-Server Architecture: The Principle of Separation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5912" cy="13716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High-Performance Multi-Server Architecture  |  Contabo Infrastructure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03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5212080" cy="5486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828800"/>
            <a:ext cx="4773168" cy="18745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2D3EE"/>
                </a:solidFill>
                <a:latin typeface="Segoe UI"/>
              </a:defRPr>
            </a:pPr>
            <a:r>
              <a:t>[SPECIALIZATION]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Decoupled Service Roles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Isolate Web/API compute, Relational Database, In-Memory Cache, and Storage into dedicated nodes.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Hardware is tailored per role (e.g. high RAM for DB, massive disks for Storage).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212080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828800"/>
            <a:ext cx="4773168" cy="18745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  <a:latin typeface="Segoe UI"/>
              </a:defRPr>
            </a:pPr>
            <a:r>
              <a:t>[ELASTIC GROWTH]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True Horizontal Scalability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Add stateless app servers on-demand during traffic spikes without touching data layers.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Zero-downtime scaling with linear capacity multiplication.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5212080" cy="54864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4297680"/>
            <a:ext cx="4773168" cy="18745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60A5FA"/>
                </a:solidFill>
                <a:latin typeface="Segoe UI"/>
              </a:defRPr>
            </a:pPr>
            <a:r>
              <a:t>[FAULT TOLERANCE]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Fault Isolation &amp; High Availability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If an app node fails, the load balancer reroutes traffic in milliseconds with 0s user disruption.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Storage operations remain fully functional during application re-deployments.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4114800"/>
            <a:ext cx="5212080" cy="54864"/>
          </a:xfrm>
          <a:prstGeom prst="round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297680"/>
            <a:ext cx="4773168" cy="18745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C084FC"/>
                </a:solidFill>
                <a:latin typeface="Segoe UI"/>
              </a:defRPr>
            </a:pPr>
            <a:r>
              <a:t>[THROUGHPUT MAXIMIZATION]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Optimized I/O &amp; Network Paths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Heavy media files bypass the application compute pipeline completely.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Private VLAN enables ultra-fast unmetered inter-server communication.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1C2A48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lIns="0" rIns="0" bIns="0"/>
          <a:lstStyle/>
          <a:p>
            <a:pPr algn="ct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INFRASTRUCTURE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594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Why Contabo for Multi-Server Deployment?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5912" cy="13716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High-Performance Multi-Server Architecture  |  Contabo Infrastructure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04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3383280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828800"/>
            <a:ext cx="29443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  <a:latin typeface="Segoe UI"/>
              </a:defRPr>
            </a:pPr>
            <a:r>
              <a:t>[COMPUTE POWER]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Unbeatable Value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Enterprise Hardware at Low Cost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Enterprise AMD EPYC™ processors (6-32 vCPU cores, 16-120 GB RAM) at fractional market rates.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Deploy an entire 4-6 node cluster on Contabo for less than 1 single AWS RDS instance.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Predictable fixed monthly billing with zero surprise per-request fees.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645920"/>
            <a:ext cx="3383280" cy="5486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1828800"/>
            <a:ext cx="29443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2D3EE"/>
                </a:solidFill>
                <a:latin typeface="Segoe UI"/>
              </a:defRPr>
            </a:pPr>
            <a:r>
              <a:t>[TERABYTE STORAGE]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Massive Storage VPS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Multi-Terabyte VPS Capacity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Storage VPS tiers offering 1.6 TB, 3.2 TB, up to 6.4 TB per node.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NVMe SSD options delivering tens of thousands of IOPS for high-speed DB queries.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Perfect foundation for self-hosted MinIO object storage and centralized media hubs.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645920"/>
            <a:ext cx="3383280" cy="54864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1828800"/>
            <a:ext cx="29443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60A5FA"/>
                </a:solidFill>
                <a:latin typeface="Segoe UI"/>
              </a:defRPr>
            </a:pPr>
            <a:r>
              <a:t>[HIGH-SPEED NETWORK]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High Bandwidth &amp; Private VLAN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VLAN &amp; Global Datacenters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Up to 1 Gbit/s network port speeds with generous 32 TB+ monthly traffic allowance.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Contabo Private Cloud (VLAN) allows isolated, secure, ultra-fast server-to-server traffic.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Global data centers (EU, US, Asia) for low client latency.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1C2A48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lIns="0" rIns="0" bIns="0"/>
          <a:lstStyle/>
          <a:p>
            <a:pPr algn="ct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CLUSTER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594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End-to-End High Performance Multi-Server Blueprint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5912" cy="13716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High-Performance Multi-Server Architecture  |  Contabo Infrastructure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05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205740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2057400" cy="5486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828800"/>
            <a:ext cx="161848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2D3EE"/>
                </a:solidFill>
                <a:latin typeface="Segoe UI"/>
              </a:defRPr>
            </a:pPr>
            <a:r>
              <a:t>[NODE 01]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Layer 1: Ingress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HAProxy / NGINX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SSL Offloading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DDoS Mitigation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Least-Conn LB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Health Probing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98648" y="1645920"/>
            <a:ext cx="205740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98648" y="1645920"/>
            <a:ext cx="2057400" cy="54864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1828800"/>
            <a:ext cx="161848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60A5FA"/>
                </a:solidFill>
                <a:latin typeface="Segoe UI"/>
              </a:defRPr>
            </a:pPr>
            <a:r>
              <a:t>[NODE 02]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Layer 2: App Cluster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Stateless VPS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REST / GraphQL API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Auth / Token Logic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Zero Local State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Horizontal Scale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5776" y="1645920"/>
            <a:ext cx="205740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5776" y="1645920"/>
            <a:ext cx="2057400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5232" y="1828800"/>
            <a:ext cx="161848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  <a:latin typeface="Segoe UI"/>
              </a:defRPr>
            </a:pPr>
            <a:r>
              <a:t>[NODE 03]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Layer 3: Storage Hub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High-Capacity VPS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MinIO / S3 API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NFS / Fast Sharing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Direct Upload URLs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Multi-Device Sync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32904" y="1645920"/>
            <a:ext cx="205740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32904" y="1645920"/>
            <a:ext cx="2057400" cy="5486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1828800"/>
            <a:ext cx="161848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BBF24"/>
                </a:solidFill>
                <a:latin typeface="Segoe UI"/>
              </a:defRPr>
            </a:pPr>
            <a:r>
              <a:t>[NODE 04]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Layer 4: Database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PostgreSQL / MySQL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Dedicated NVMe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Max RAM Buffer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ACID Persistence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Private VLAN Only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00032" y="1645920"/>
            <a:ext cx="205740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00032" y="1645920"/>
            <a:ext cx="2057400" cy="54864"/>
          </a:xfrm>
          <a:prstGeom prst="round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19488" y="1828800"/>
            <a:ext cx="161848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C084FC"/>
                </a:solidFill>
                <a:latin typeface="Segoe UI"/>
              </a:defRPr>
            </a:pPr>
            <a:r>
              <a:t>[NODE 05]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Layer 5: Cache / Queue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Redis + Workers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Sub-ms Cache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Session Store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Async Task Engine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Websocket Pub/Sub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1C2A48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lIns="0" rIns="0" bIns="0"/>
          <a:lstStyle/>
          <a:p>
            <a:pPr algn="ct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TRAFFIC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594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Layer 1: Reverse Proxy &amp; Intelligent Load Balancing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5912" cy="13716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High-Performance Multi-Server Architecture  |  Contabo Infrastructure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06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5212080" cy="5486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828800"/>
            <a:ext cx="47731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2D3EE"/>
                </a:solidFill>
                <a:latin typeface="Segoe UI"/>
              </a:defRPr>
            </a:pPr>
            <a:r>
              <a:t>[EDGE GATEWAY]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Traffic Orchestration &amp; Routing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NGINX / HAProxy Layer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Acts as the single front-facing gateway (NGINX / HAProxy) receiving all public HTTPS traffic.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Dynamic Load Balancing: Least Connections and Round-Robin routing evenly spread load across app nodes.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Active Health Probing: Automatically detects unhealthy or lagging nodes within 500ms and redirects users.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SSL/TLS Offloading: Terminates encryption at the edge, freeing heavy CPU cycles on application nodes.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212080" cy="54864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828800"/>
            <a:ext cx="47731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60A5FA"/>
                </a:solidFill>
                <a:latin typeface="Segoe UI"/>
              </a:defRPr>
            </a:pPr>
            <a:r>
              <a:t>[EDGE SECURITY]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Security &amp; Edge Acceleration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Shield &amp; Compression Engine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IP Rate Limiting: Defends against brute-force attacks and volumetric DDoS abuse before reaching apps.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Modern Compression (Gzip / Brotli): Shrinks payload transfer size by up to 70% over the wire.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Smart Static Asset Routing: Directly routes static and media requests to the storage cluster.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WebSockets Proxying: Supports persistent real-time connections for multi-device sync.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1C2A48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lIns="0" rIns="0" bIns="0"/>
          <a:lstStyle/>
          <a:p>
            <a:pPr algn="ct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COMPUTE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594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Layer 2: Stateless Application Server Cluster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5912" cy="13716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High-Performance Multi-Server Architecture  |  Contabo Infrastructure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07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5212080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828800"/>
            <a:ext cx="47731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  <a:latin typeface="Segoe UI"/>
              </a:defRPr>
            </a:pPr>
            <a:r>
              <a:t>[DECOUPLED COMPUTE]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The Stateless Architecture Principle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Stateless Node Design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Zero Session Data on Disk: User sessions and file uploads are never written to the local app filesystem.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Identical Clones: Any app node can execute any user request interchangeably.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Dockerized Deployment: App containers packaged consistently across Contabo Cloud VPS instances.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Rolling Zero-Downtime Updates: Update Node A while Node B serves active users, then swap seamlessly.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212080" cy="5486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828800"/>
            <a:ext cx="47731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2D3EE"/>
                </a:solidFill>
                <a:latin typeface="Segoe UI"/>
              </a:defRPr>
            </a:pPr>
            <a:r>
              <a:t>[THROUGHPUT]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Performance Multiplier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Linear Performance Scaling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100% Dedicated Compute: Full CPU/RAM capacity devoted exclusively to business logic and API responses.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Instant Horizontal Scaling: Spin up extra Contabo instances in minutes during peak promotion events.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Predictable Response Times: Eliminates API latency spikes caused by database or disk contention.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High Concurrency: Scales smoothly from hundreds to tens of thousands of active users.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1C2A48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lIns="0" rIns="0" bIns="0"/>
          <a:lstStyle/>
          <a:p>
            <a:pPr algn="ct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STORAGE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594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Layer 3: Dedicated High-Capacity Storage Server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5912" cy="13716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High-Performance Multi-Server Architecture  |  Contabo Infrastructure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08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5212080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828800"/>
            <a:ext cx="47731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  <a:latin typeface="Segoe UI"/>
              </a:defRPr>
            </a:pPr>
            <a:r>
              <a:t>[STORAGE HUB]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Centralized Multi-Terabyte Hub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MinIO / S3-Compatible Protocol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Dedicated Contabo Storage VPS with 1.6 TB – 6.4 TB disk capacity configured as a central repository.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Self-Hosted S3-Compatible Object Storage (MinIO): Full enterprise S3 API support for all platforms.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Direct Streaming Protocol: Supports HTTP Range byte-streaming for fast audio/video playback.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Decoupled Storage Lifecycle: Expand or backup storage without restarting or modifying app compute servers.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212080" cy="5486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828800"/>
            <a:ext cx="47731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2D3EE"/>
                </a:solidFill>
                <a:latin typeface="Segoe UI"/>
              </a:defRPr>
            </a:pPr>
            <a:r>
              <a:t>[BUSINESS VALUE]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Strategic Operational Advantages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High Reliability &amp; Low Cost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90% Lower Storage Costs: Eliminates expensive AWS S3 GB-storage and egress bandwidth penalties.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Zero Disk Full Fatal Errors: App servers remain lightweight (20GB OS disk is more than enough).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Universal Multi-App File Access: All mobile apps, web dashboards, and microservices share one unified file store.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Built-in Data Integrity: Bitrot detection, erasure coding, and automated volume snapshots.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1C2A48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lIns="0" rIns="0" bIns="0"/>
          <a:lstStyle/>
          <a:p>
            <a:pPr algn="ct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594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Cross-Device &amp; Cross-App File Sharing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5912" cy="13716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High-Performance Multi-Server Architecture  |  Contabo Infrastructure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09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3383280" cy="5486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828800"/>
            <a:ext cx="29443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2D3EE"/>
                </a:solidFill>
                <a:latin typeface="Segoe UI"/>
              </a:defRPr>
            </a:pPr>
            <a:r>
              <a:t>[STEP 1]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1. Direct Upload &amp; Presigned URLs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Client-to-Storage Ingestion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Client (Mobile/Web) requests a short-lived signed upload ticket from the API.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Client streams the file directly to the Contabo Storage Server via HTTPS.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App server never buffers heavy file bytes, saving 100% of its RAM and network bandwidth.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Supports resumable multi-part chunked uploads for large media.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645920"/>
            <a:ext cx="3383280" cy="5486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1828800"/>
            <a:ext cx="29443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BBF24"/>
                </a:solidFill>
                <a:latin typeface="Segoe UI"/>
              </a:defRPr>
            </a:pPr>
            <a:r>
              <a:t>[STEP 2]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2. Async Metadata &amp; Processing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Processing &amp; Registration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Storage server fires a lightweight webhook to the App Cluster upon upload completion.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App records file metadata (size, MIME type, owner ID, public URL) in the central DB.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Background worker generates thumbnails, compresses images, and scans file safety asynchronously.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645920"/>
            <a:ext cx="3383280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1828800"/>
            <a:ext cx="29443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  <a:latin typeface="Segoe UI"/>
              </a:defRPr>
            </a:pPr>
            <a:r>
              <a:t>[STEP 3]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3. Multi-Device Instant Sync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Omnichannel Availability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Event is published to Redis Pub/Sub and pushed via WebSockets to all connected clients.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Android, iOS, Web App, and Admin Portals see new files instantly in real-time.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Fast direct asset download via CDN or direct high-speed Contabo storage link.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1C2A48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lIns="0" rIns="0" bIns="0"/>
          <a:lstStyle/>
          <a:p>
            <a:pPr algn="ct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DATA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594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Layer 4: Dedicated Database Server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5912" cy="13716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High-Performance Multi-Server Architecture  |  Contabo Infrastructure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10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5212080" cy="5486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828800"/>
            <a:ext cx="47731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BBF24"/>
                </a:solidFill>
                <a:latin typeface="Segoe UI"/>
              </a:defRPr>
            </a:pPr>
            <a:r>
              <a:t>[ENGINE TUNING]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Dedicated Memory &amp; Buffer Pool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Memory-Optimized Database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Dedicated High-RAM Contabo VPS running PostgreSQL / MySQL on pure NVMe storage.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Allocate 70-80% of total physical RAM to DB buffer cache (`shared_buffers` / `innodb_buffer_pool_size`).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Index lookups and frequent queries execute in RAM without reading physical disk.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Separated from web traffic, ensuring ACID transactions are never starved by CPU spikes.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212080" cy="5486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828800"/>
            <a:ext cx="47731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2D3EE"/>
                </a:solidFill>
                <a:latin typeface="Segoe UI"/>
              </a:defRPr>
            </a:pPr>
            <a:r>
              <a:t>[ARCHITECTURE]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Connection Pooling &amp; Private VLAN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Connection Pooling &amp; Isolation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PgBouncer / ProxySQL connection pooler manages thousands of concurrent client connections efficiently.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Database is strictly bound to Contabo Private VLAN (10.0.0.x) — zero public internet exposure.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Sub-millisecond internal latency between App nodes and Database.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Automated continuous WAL replication and encrypted snapshot backups.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1C2A48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lIns="0" rIns="0" bIns="0"/>
          <a:lstStyle/>
          <a:p>
            <a:pPr algn="ct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SUB-MILLISECOND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594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Layer 5: In-Memory Caching &amp; Real-Time State (Redis)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5912" cy="13716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High-Performance Multi-Server Architecture  |  Contabo Infrastructure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11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5212080" cy="5486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828800"/>
            <a:ext cx="47731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BBF24"/>
                </a:solidFill>
                <a:latin typeface="Segoe UI"/>
              </a:defRPr>
            </a:pPr>
            <a:r>
              <a:t>[RAM SPEED]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Sub-Millisecond Query Acceleration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Query Caching Layer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Stores hot database queries, user permissions, and frequent lookups in high-speed RAM.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Reduces primary database read load by up to 80-90%.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Sub-1ms response times for cached endpoints, delivering blazing fast app speed.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Automatic Time-To-Live (TTL) and smart cache invalidation on database mutations.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212080" cy="54864"/>
          </a:xfrm>
          <a:prstGeom prst="round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828800"/>
            <a:ext cx="47731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C084FC"/>
                </a:solidFill>
                <a:latin typeface="Segoe UI"/>
              </a:defRPr>
            </a:pPr>
            <a:r>
              <a:t>[STATE SYNC]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Centralized Session &amp; WebSocket Pub/Sub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Centralized Session Hub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Centralized Session Store: Users remain logged in seamlessly across all load-balanced app nodes.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Rate Limiting Counters: Protects API routes with microsecond rate check lookups.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Redis Pub/Sub Message Bus: Powers real-time chat, push notifications, and live multi-device file sync.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Ephemeral Key Storage for temporary verification codes and download tokens.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1C2A48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lIns="0" rIns="0" bIns="0"/>
          <a:lstStyle/>
          <a:p>
            <a:pPr algn="ct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WORKLOAD OFFLOADING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594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Layer 6: Asynchronous Background Task Workers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5912" cy="13716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High-Performance Multi-Server Architecture  |  Contabo Infrastructure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12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5212080" cy="5486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828800"/>
            <a:ext cx="47731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2D3EE"/>
                </a:solidFill>
                <a:latin typeface="Segoe UI"/>
              </a:defRPr>
            </a:pPr>
            <a:r>
              <a:t>[ASYNC QUEUE]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Non-Blocking API Architecture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Message Brokers &amp; Queues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App servers push heavy, long-running tasks into message queues (Celery / RabbitMQ / BullMQ).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User receives an immediate HTTP 200/202 confirmation response in under 40ms.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Offloaded Tasks: Media transcoding, PDF invoice generation, batch emails, AI processing, data exports.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Prevents slow background operations from ever freezing frontend user interactions.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212080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828800"/>
            <a:ext cx="47731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  <a:latin typeface="Segoe UI"/>
              </a:defRPr>
            </a:pPr>
            <a:r>
              <a:t>[WORKER NODES]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Dedicated Worker Node Resilience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Fault-Tolerant Background Engine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Workers execute on a dedicated compute VPS, keeping CPU-heavy jobs isolated from web traffic.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Automatic task retries with exponential backoff and dead-letter queues on transient failures.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Scale worker nodes independently during large background processing runs.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Comprehensive task status tracking and progress reporting via WebSockets.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1C2A48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lIns="0" rIns="0" bIns="0"/>
          <a:lstStyle/>
          <a:p>
            <a:pPr algn="ct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EMPIRICAL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594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Architecture Benchmark: Single Server vs. Multi-Server Cluster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5912" cy="13716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High-Performance Multi-Server Architecture  |  Contabo Infrastructure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13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5212080" cy="54864"/>
          </a:xfrm>
          <a:prstGeom prst="round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828800"/>
            <a:ext cx="47731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B7185"/>
                </a:solidFill>
                <a:latin typeface="Segoe UI"/>
              </a:defRPr>
            </a:pPr>
            <a:r>
              <a:t>[BEFORE]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Single-Server Monolith (Baseline)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Bottlenecked Monolith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Max Concurrent Users: 150 - 300 active users before latency degradation.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Average API Latency: 450ms - 2,500ms (spikes over 5,000ms under load).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File Upload Impact: Freezes DB queries and slows all connected mobile apps.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System Uptime: ~95-98% (any crash takes entire platform offline).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Storage Capacity: Hard limited to single disk capacity (max 200-400GB).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Maintenance: Requires complete service shutdown during upgrades.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212080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828800"/>
            <a:ext cx="47731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  <a:latin typeface="Segoe UI"/>
              </a:defRPr>
            </a:pPr>
            <a:r>
              <a:t>[AFTER]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Multi-Server Contabo Cluster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Optimized Enterprise Cluster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Max Concurrent Users: 5,000 - 25,000+ active users (linearly scalable).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Average API Latency: 35ms - 65ms consistent response time.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File Upload Impact: 0% impact on API speed (direct storage streaming).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System Uptime: 99.95%+ with automated load balancer failover.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Storage Capacity: 3.2TB - 6.4TB+ scalable storage nodes.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Maintenance: Zero-downtime rolling node updates.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1C2A48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lIns="0" rIns="0" bIns="0"/>
          <a:lstStyle/>
          <a:p>
            <a:pPr algn="ct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STORAGE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594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Storage Server Deep-Dive: Enterprise Protocols &amp; Multi-App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5912" cy="13716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High-Performance Multi-Server Architecture  |  Contabo Infrastructure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14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3383280" cy="5486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828800"/>
            <a:ext cx="29443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2D3EE"/>
                </a:solidFill>
                <a:latin typeface="Segoe UI"/>
              </a:defRPr>
            </a:pPr>
            <a:r>
              <a:t>[PROTOCOLS]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1. Unified Protocols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Standardized Storage APIs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MinIO S3-Compatible API: Plug-and-play with AWS S3 SDKs in Flutter, React, iOS, Python, Node.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NFS / SMB Sharing: Instant direct network mount for internal worker servers.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HTTP/2 Direct Streaming: Fast chunked media delivery with caching headers.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645920"/>
            <a:ext cx="3383280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1828800"/>
            <a:ext cx="29443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  <a:latin typeface="Segoe UI"/>
              </a:defRPr>
            </a:pPr>
            <a:r>
              <a:t>[HARDWARE]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2. Capacity &amp; Redundancy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Multi-Terabyte Fault Tolerance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Contabo Storage VPS with up to 6.4TB high-reliability disks.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RAID-backed physical infrastructure protects against hardware failure.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Erasure Coding &amp; bitrot self-healing ensures long-term file integrity.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Automated snapshotting with offsite backup sync.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645920"/>
            <a:ext cx="3383280" cy="54864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1828800"/>
            <a:ext cx="29443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60A5FA"/>
                </a:solidFill>
                <a:latin typeface="Segoe UI"/>
              </a:defRPr>
            </a:pPr>
            <a:r>
              <a:t>[ECOSYSTEM]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3. Multi-App Integration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Multi-Tenant Asset Sharing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Single source of truth for assets across Mobile, Web, Admin, and Partner APIs.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Granular Access Control (IAM &amp; Presigned URLs) ensures strict tenant data isolation.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Automated retention policies to archive old logs and temporary media.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1C2A48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lIns="0" rIns="0" bIns="0"/>
          <a:lstStyle/>
          <a:p>
            <a:pPr algn="ct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REAL-TIME 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594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Event-Driven Data &amp; File Sync Across Connected Devices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5912" cy="13716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High-Performance Multi-Server Architecture  |  Contabo Infrastructure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15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5212080" cy="5486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828800"/>
            <a:ext cx="47731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2D3EE"/>
                </a:solidFill>
                <a:latin typeface="Segoe UI"/>
              </a:defRPr>
            </a:pPr>
            <a:r>
              <a:t>[EVENT FLOW]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Step-by-Step Multi-Device Sync Pipeline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End-to-End Real-Time Pipeline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1. Device A (Mobile App) streams image directly to Contabo Storage VPS via presigned URL.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2. Storage Server triggers instant `upload_complete` webhook to API cluster.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3. API cluster commits metadata to DB and publishes event to Redis Pub/Sub channel.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4. WebSocket gateway receives event and broadcasts payload to all user-authorized devices.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5. Device B (Web Portal) and Device C (Tablet) receive real-time push and render preview in &lt; 100ms.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6. Seamless collaborative file sharing with zero polling overhead.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212080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828800"/>
            <a:ext cx="47731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  <a:latin typeface="Segoe UI"/>
              </a:defRPr>
            </a:pPr>
            <a:r>
              <a:t>[UX IMPACT]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Technical &amp; User Experience Benefits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Low Latency &amp; High Battery Efficiency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Instant Multi-Screen Consistency: Users see files update on desktop the instant they take a photo on mobile.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Zero Web Server Bottlenecks: Heavy data transfers never touch the main application compute nodes.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Resumable Uploads: Interrupted mobile connections seamlessly resume without restarting.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Minimal Battery &amp; Data Usage: WebSockets replace continuous battery-draining polling.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1C2A48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lIns="0" rIns="0" bIns="0"/>
          <a:lstStyle/>
          <a:p>
            <a:pPr algn="ct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594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Cluster Security: Zero Trust &amp; Contabo Private VLAN Isolation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5912" cy="13716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High-Performance Multi-Server Architecture  |  Contabo Infrastructure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16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5212080" cy="5486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828800"/>
            <a:ext cx="47731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2D3EE"/>
                </a:solidFill>
                <a:latin typeface="Segoe UI"/>
              </a:defRPr>
            </a:pPr>
            <a:r>
              <a:t>[NETWORK SHIELD]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Private Network Isolation (VLAN)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VLAN Architecture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Strict Perimeter: Only Load Balancer is assigned a public IP (listening on Ports 80 / 443).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Private VLAN: Database, Storage Server, Redis, and Workers communicate exclusively on internal IPs (10.0.0.x).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Zero Public Attack Surface: Database and storage nodes are physically unreachable from the public internet.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Unmetered Internal Traffic: High-speed inter-server data transfers with zero bandwidth fees.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212080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828800"/>
            <a:ext cx="47731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  <a:latin typeface="Segoe UI"/>
              </a:defRPr>
            </a:pPr>
            <a:r>
              <a:t>[SERVER HARDENING]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Defense-in-Depth Hardening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Access Control &amp; Encryption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UFW / IPTables strict firewall policies on every node rejecting all unauthorized internal ports.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SSH Key-Only authentication with custom non-standard port and Fail2ban intrusion prevention.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Encrypted Transit: Internal server-to-server traffic secured with mTLS / WireGuard encryption.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Time-limited Presigned URLs for file downloads prevent unauthorized media hotlinking.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1C2A48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lIns="0" rIns="0" bIns="0"/>
          <a:lstStyle/>
          <a:p>
            <a:pPr algn="ct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BUSINESS CONTINUITY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594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Disaster Recovery, Backup Strategy &amp; Redundancy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5912" cy="13716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High-Performance Multi-Server Architecture  |  Contabo Infrastructure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17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3383280" cy="5486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828800"/>
            <a:ext cx="29443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BBF24"/>
                </a:solidFill>
                <a:latin typeface="Segoe UI"/>
              </a:defRPr>
            </a:pPr>
            <a:r>
              <a:t>[DATA SAFETY]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1. Database Protection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WAL Archiving &amp; PITR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Continuous WAL (Write-Ahead Logging) archiving for Point-In-Time Recovery (PITR).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Daily automated full database dumps encrypted and transferred offsite.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Fast database restore tested with RPO &lt; 15 minutes.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645920"/>
            <a:ext cx="3383280" cy="5486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1828800"/>
            <a:ext cx="29443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2D3EE"/>
                </a:solidFill>
                <a:latin typeface="Segoe UI"/>
              </a:defRPr>
            </a:pPr>
            <a:r>
              <a:t>[REDUNDANCY]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2. Storage Replication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Cross-Server Replication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MinIO multi-drive replication or bidirectional rsync between storage servers.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Read-only storage mirror for high-volume public media delivery.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Zero risk of permanent file loss on disk sector failure.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645920"/>
            <a:ext cx="3383280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1828800"/>
            <a:ext cx="29443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  <a:latin typeface="Segoe UI"/>
              </a:defRPr>
            </a:pPr>
            <a:r>
              <a:t>[FAILOVER]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3. Automated Recovery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Instant Node Rebuild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Infrastructure as Code (Docker Compose / Ansible) allows deploying replacement nodes in under 5 minutes.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Load balancer health checks isolate failing instances automatically.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Target RTO (Recovery Time Objective) &lt; 10 mins.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1C2A48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lIns="0" rIns="0" bIns="0"/>
          <a:lstStyle/>
          <a:p>
            <a:pPr algn="ct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EXECUTION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594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Implementation &amp; Migration Roadmap: 4-Phase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5912" cy="13716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High-Performance Multi-Server Architecture  |  Contabo Infrastructure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18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2560320" cy="5486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828800"/>
            <a:ext cx="212140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2D3EE"/>
                </a:solidFill>
                <a:latin typeface="Segoe UI"/>
              </a:defRPr>
            </a:pPr>
            <a:r>
              <a:t>[MILESTONE 1]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Phase 01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Phase 1: DB &amp; Storage Separation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Provision Contabo DB VPS &amp; Storage VPS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Migrate SQL data to dedicated DB node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Deploy MinIO &amp; sync existing media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Update app connection environment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1645920"/>
            <a:ext cx="256032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47288" y="1645920"/>
            <a:ext cx="2560320" cy="54864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6744" y="1828800"/>
            <a:ext cx="212140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60A5FA"/>
                </a:solidFill>
                <a:latin typeface="Segoe UI"/>
              </a:defRPr>
            </a:pPr>
            <a:r>
              <a:t>[MILESTONE 2]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Phase 02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Phase 2: Redis &amp; Worker Queue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Provision Redis node on private VLAN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Migrate sessions &amp; cache from app RAM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Deploy Celery/BullMQ workers on worker VPS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Offload media transcoding &amp; email jobs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45920"/>
            <a:ext cx="256032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63056" y="1645920"/>
            <a:ext cx="2560320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828800"/>
            <a:ext cx="212140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  <a:latin typeface="Segoe UI"/>
              </a:defRPr>
            </a:pPr>
            <a:r>
              <a:t>[MILESTONE 3]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Phase 03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Phase 3: Load Balancing &amp; Clones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Deploy NGINX/HAProxy Load Balancer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Clone stateless app instances (Node A, Node B)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Configure SSL &amp; automated health checks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Switch DNS with 0s downtime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78824" y="1645920"/>
            <a:ext cx="256032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78824" y="1645920"/>
            <a:ext cx="2560320" cy="5486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828800"/>
            <a:ext cx="212140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BBF24"/>
                </a:solidFill>
                <a:latin typeface="Segoe UI"/>
              </a:defRPr>
            </a:pPr>
            <a:r>
              <a:t>[MILESTONE 4]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Phase 04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Phase 4: Observability &amp; Tuning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Deploy Prometheus &amp; Grafana stack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Configure automated Discord/Slack alerts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Run load tests (k6 / Locust)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Continuous performance benchmarking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1C2A48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lIns="0" rIns="0" bIns="0"/>
          <a:lstStyle/>
          <a:p>
            <a:pPr algn="ct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FINANCIAL &amp; TECH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594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Cost-Benefit &amp; ROI: Contabo vs. Hyperscale Clouds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5912" cy="13716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High-Performance Multi-Server Architecture  |  Contabo Infrastructure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19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5212080" cy="54864"/>
          </a:xfrm>
          <a:prstGeom prst="round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828800"/>
            <a:ext cx="47731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B7185"/>
                </a:solidFill>
                <a:latin typeface="Segoe UI"/>
              </a:defRPr>
            </a:pPr>
            <a:r>
              <a:t>[HYPERSCALE CLOUD]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Traditional Cloud (AWS / GCP / Azure)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High Operational Overhead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1x Application Load Balancer (ALB): ~$25 - $35/mo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2x Web Compute Instances (t4g.xlarge): ~$110/mo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1x Managed Relational DB (RDS PostgreSQL): ~$140/mo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1x Managed In-Memory Cache (ElastiCache): ~$45/mo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Storage &amp; Egress (S3 + 5TB Bandwidth): ~$480/mo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Total Estimated Monthly Cost: $800 - $1,100+ / month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Unpredictable egress surcharges that punish growth.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212080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828800"/>
            <a:ext cx="47731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  <a:latin typeface="Segoe UI"/>
              </a:defRPr>
            </a:pPr>
            <a:r>
              <a:t>[CONTABO CLUSTER]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Multi-Server Cluster on Contabo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&gt;90% Cost Reduction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1x Load Balancer VPS (4 vCPU, 8GB RAM): ~$7/mo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2x App Cluster VPS (6 vCPU, 16GB RAM each): ~$24/mo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1x Database VPS (8 vCPU, 30GB RAM, NVMe): ~$18/mo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1x Storage VPS (4 vCPU, 12GB RAM, 3.2TB Disk): ~$15/mo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Total Estimated Monthly Cost: ~$64 - $80 / month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&gt; 90% Cost Savings with massively higher RAM, vCPUs, and multi-terabyte storage included.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1C2A48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lIns="0" rIns="0" bIns="0"/>
          <a:lstStyle/>
          <a:p>
            <a:pPr algn="ct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MONITORING &amp;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594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Observability: Real-Time Metrics, Logging &amp; Cluster Health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5912" cy="13716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High-Performance Multi-Server Architecture  |  Contabo Infrastructure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20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3383280" cy="5486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828800"/>
            <a:ext cx="29443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2D3EE"/>
                </a:solidFill>
                <a:latin typeface="Segoe UI"/>
              </a:defRPr>
            </a:pPr>
            <a:r>
              <a:t>[TELEMETRY]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1. Metric Collection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Prometheus &amp; Exporters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Prometheus &amp; Node Exporter deployed across all cluster nodes.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Real-time tracking of CPU usage, Memory pressure, Disk IOPS, and Network traffic.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cAdvisor for containerized service telemetry.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645920"/>
            <a:ext cx="3383280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1828800"/>
            <a:ext cx="29443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  <a:latin typeface="Segoe UI"/>
              </a:defRPr>
            </a:pPr>
            <a:r>
              <a:t>[DASHBOARDS]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2. Visual Dashboards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Grafana Monitoring Hub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Unified Grafana dashboards displaying full cluster health in single view.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Live graphs for HTTP response latency, request throughput, and error codes (4xx/5xx).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Storage disk usage and IOPS saturation tracking.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645920"/>
            <a:ext cx="3383280" cy="5486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1828800"/>
            <a:ext cx="2944368" cy="425196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BBF24"/>
                </a:solidFill>
                <a:latin typeface="Segoe UI"/>
              </a:defRPr>
            </a:pPr>
            <a:r>
              <a:t>[ALERTS]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3. Proactive Alerting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Instant Incident Response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Alertmanager integration with Discord, Slack, and SMS.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Automated warning triggers at 80% RAM/Disk usage.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Instant alert if any app node fails consecutive health checks.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1C2A48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lIns="0" rIns="0" bIns="0"/>
          <a:lstStyle/>
          <a:p>
            <a:pPr algn="ct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VALIDATION &amp;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601200" cy="594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Demonstration Proof Points: Empirical Performance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18288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5912" cy="13716"/>
          </a:xfrm>
          <a:prstGeom prst="rect">
            <a:avLst/>
          </a:prstGeom>
          <a:solidFill>
            <a:srgbClr val="25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High-Performance Multi-Server Architecture  |  Contabo Infrastructure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2D3EE"/>
                </a:solidFill>
                <a:latin typeface="Segoe UI"/>
              </a:defRPr>
            </a:pPr>
            <a:r>
              <a:t>21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2423160" cy="210312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242316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10512"/>
            <a:ext cx="2057400" cy="1828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"/>
              </a:spcAft>
              <a:defRPr sz="2800" b="1">
                <a:solidFill>
                  <a:srgbClr val="22D3EE"/>
                </a:solidFill>
                <a:latin typeface="Segoe UI"/>
              </a:defRPr>
            </a:pPr>
            <a:r>
              <a:t>15x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LATENCY REDUCTION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Avg response dropped from 650ms to 42ms under load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4136" y="1645920"/>
            <a:ext cx="2423160" cy="210312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74136" y="1645920"/>
            <a:ext cx="242316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7016" y="1810512"/>
            <a:ext cx="2057400" cy="1828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"/>
              </a:spcAft>
              <a:defRPr sz="2800" b="1">
                <a:solidFill>
                  <a:srgbClr val="34D399"/>
                </a:solidFill>
                <a:latin typeface="Segoe UI"/>
              </a:defRPr>
            </a:pPr>
            <a:r>
              <a:t>500%+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CONCURRENCY BOOST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Handled 15,000+ concurrent users with zero 500 errors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16752" y="1645920"/>
            <a:ext cx="2423160" cy="210312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16752" y="1645920"/>
            <a:ext cx="242316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1810512"/>
            <a:ext cx="2057400" cy="1828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"/>
              </a:spcAft>
              <a:defRPr sz="2800" b="1">
                <a:solidFill>
                  <a:srgbClr val="60A5FA"/>
                </a:solidFill>
                <a:latin typeface="Segoe UI"/>
              </a:defRPr>
            </a:pPr>
            <a:r>
              <a:t>100%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I/O DECOUPLING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Heavy file uploads zero effect on database or API speed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59368" y="1645920"/>
            <a:ext cx="2423160" cy="210312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59368" y="1645920"/>
            <a:ext cx="242316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42248" y="1810512"/>
            <a:ext cx="2057400" cy="1828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"/>
              </a:spcAft>
              <a:defRPr sz="2800" b="1">
                <a:solidFill>
                  <a:srgbClr val="FBBF24"/>
                </a:solidFill>
                <a:latin typeface="Segoe UI"/>
              </a:defRPr>
            </a:pPr>
            <a:r>
              <a:t>0 sec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DEPLOY DOWNTIME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Rolling node updates executed with zero client interruption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23360"/>
            <a:ext cx="10725912" cy="219456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4023360"/>
            <a:ext cx="10725912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206240"/>
            <a:ext cx="10287000" cy="18745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  <a:latin typeface="Segoe UI"/>
              </a:defRPr>
            </a:pPr>
            <a:r>
              <a:t>[EXECUTIVE SUMMARY]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Strategic Demonstration Takeaways</a:t>
            </a:r>
          </a:p>
          <a:p>
            <a:pPr>
              <a:spcAft>
                <a:spcPts val="600"/>
              </a:spcAft>
              <a:defRPr sz="1100" i="1">
                <a:solidFill>
                  <a:srgbClr val="94A3B8"/>
                </a:solidFill>
                <a:latin typeface="Segoe UI"/>
              </a:defRPr>
            </a:pPr>
            <a:r>
              <a:t>Key Outcomes for App Scaling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Scalability: Multi-server architecture allows independent scaling of compute, database, and storage as demand grows.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Cost Efficiency: Achieves enterprise-tier performance on Contabo at &lt;10% of traditional cloud costs.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Seamless Multi-Device Experience: Centralized storage and real-time WebSockets deliver immediate file sync across mobile and web apps.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Enterprise Reliability: Eliminates single points of failure with automated failover, private VLAN security, and continuous backups.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05840"/>
            <a:ext cx="2926080" cy="320040"/>
          </a:xfrm>
          <a:prstGeom prst="roundRect">
            <a:avLst/>
          </a:prstGeom>
          <a:solidFill>
            <a:srgbClr val="1C2A48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  <a:latin typeface="Segoe UI"/>
              </a:defRPr>
            </a:pPr>
            <a:r>
              <a:t>CONCLUSION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0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8FAFC"/>
                </a:solidFill>
                <a:latin typeface="Segoe UI"/>
              </a:defRPr>
            </a:pPr>
            <a:r>
              <a:t>Empowering Your Application with</a:t>
            </a:r>
            <a:br/>
            <a:r>
              <a:t>Multi-Server Contabo Infrastructure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Unlocking massive performance, terabyte-scale file sharing, rock-solid stability, and over 90% hosting savings.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91840"/>
            <a:ext cx="4937760" cy="283464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3291840"/>
            <a:ext cx="4937760" cy="5486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3474720"/>
            <a:ext cx="4498848" cy="25146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4D399"/>
                </a:solidFill>
                <a:latin typeface="Segoe UI"/>
              </a:defRPr>
            </a:pPr>
            <a:r>
              <a:t>[RECAP]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Architecture Summary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Decoupled Ingress, Compute, Database, Cache, and Storage tiers.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Dedicated Storage VPS powers fast cross-device media sharing.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Private VLAN security shields sensitive data from the internet.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Linear horizontal scaling ready for high user growth.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291840"/>
            <a:ext cx="4937760" cy="283464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5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3291840"/>
            <a:ext cx="4937760" cy="54864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3474720"/>
            <a:ext cx="4498848" cy="25146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2D3EE"/>
                </a:solidFill>
                <a:latin typeface="Segoe UI"/>
              </a:defRPr>
            </a:pPr>
            <a:r>
              <a:t>[DEMONSTRATION]</a:t>
            </a:r>
          </a:p>
          <a:p>
            <a:pPr>
              <a:spcAft>
                <a:spcPts val="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Interactive Demonstration &amp; Q&amp;A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Live walkthrough of cluster topology and Grafana metrics dashboard.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Live demonstration of multi-device instant file upload and sync.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Open floor for architecture questions and deployment roadmap review.</a:t>
            </a:r>
          </a:p>
          <a:p>
            <a:pPr>
              <a:spcAft>
                <a:spcPts val="450"/>
              </a:spcAft>
              <a:defRPr sz="1150">
                <a:solidFill>
                  <a:srgbClr val="E2E8F0"/>
                </a:solidFill>
                <a:latin typeface="Segoe UI"/>
              </a:defRPr>
            </a:pPr>
            <a:r>
              <a:t>▸  Thank you for your time and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